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57" r:id="rId4"/>
    <p:sldId id="258" r:id="rId5"/>
    <p:sldId id="259" r:id="rId6"/>
    <p:sldId id="261" r:id="rId7"/>
    <p:sldId id="262" r:id="rId8"/>
    <p:sldId id="263" r:id="rId9"/>
    <p:sldId id="273" r:id="rId10"/>
    <p:sldId id="265" r:id="rId11"/>
    <p:sldId id="267" r:id="rId12"/>
    <p:sldId id="268" r:id="rId13"/>
    <p:sldId id="266" r:id="rId14"/>
    <p:sldId id="270" r:id="rId15"/>
    <p:sldId id="272" r:id="rId16"/>
    <p:sldId id="275"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2" d="100"/>
          <a:sy n="92" d="100"/>
        </p:scale>
        <p:origin x="45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C7FBCA2-BB86-40DB-9747-19602414772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1611398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7FBCA2-BB86-40DB-9747-19602414772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3589609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7FBCA2-BB86-40DB-9747-19602414772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3997504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C7FBCA2-BB86-40DB-9747-19602414772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971186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C7FBCA2-BB86-40DB-9747-19602414772F}" type="datetimeFigureOut">
              <a:rPr lang="en-IN" smtClean="0"/>
              <a:t>13-07-2026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2222243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C7FBCA2-BB86-40DB-9747-19602414772F}"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331646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7FBCA2-BB86-40DB-9747-19602414772F}" type="datetimeFigureOut">
              <a:rPr lang="en-IN" smtClean="0"/>
              <a:t>13-07-2026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2954459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7FBCA2-BB86-40DB-9747-19602414772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3935538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7FBCA2-BB86-40DB-9747-19602414772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301676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7FBCA2-BB86-40DB-9747-19602414772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424380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7FBCA2-BB86-40DB-9747-19602414772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8832F-31A6-46F0-9867-4932E9E13EAA}" type="slidenum">
              <a:rPr lang="en-IN" smtClean="0"/>
              <a:t>‹#›</a:t>
            </a:fld>
            <a:endParaRPr lang="en-IN"/>
          </a:p>
        </p:txBody>
      </p:sp>
    </p:spTree>
    <p:extLst>
      <p:ext uri="{BB962C8B-B14F-4D97-AF65-F5344CB8AC3E}">
        <p14:creationId xmlns:p14="http://schemas.microsoft.com/office/powerpoint/2010/main" val="4286409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7FBCA2-BB86-40DB-9747-19602414772F}" type="datetimeFigureOut">
              <a:rPr lang="en-IN" smtClean="0"/>
              <a:t>13-07-2026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58832F-31A6-46F0-9867-4932E9E13EAA}" type="slidenum">
              <a:rPr lang="en-IN" smtClean="0"/>
              <a:t>‹#›</a:t>
            </a:fld>
            <a:endParaRPr lang="en-IN"/>
          </a:p>
        </p:txBody>
      </p:sp>
    </p:spTree>
    <p:extLst>
      <p:ext uri="{BB962C8B-B14F-4D97-AF65-F5344CB8AC3E}">
        <p14:creationId xmlns:p14="http://schemas.microsoft.com/office/powerpoint/2010/main" val="3218649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synopsys.com/designware-ip/ip-subsystems.html"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www.maven-silicon.com/blog/code-coverage/" TargetMode="External"/><Relationship Id="rId2" Type="http://schemas.openxmlformats.org/officeDocument/2006/relationships/hyperlink" Target="https://www.maven-silicon.com/blog/functional-coverage/" TargetMode="External"/><Relationship Id="rId1" Type="http://schemas.openxmlformats.org/officeDocument/2006/relationships/slideLayout" Target="../slideLayouts/slideLayout7.xml"/><Relationship Id="rId4" Type="http://schemas.openxmlformats.org/officeDocument/2006/relationships/hyperlink" Target="https://www.maven-silicon.com/blog/what-is-the-use-of-systemverilog-assertion/"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www.maven-silicon.com/blog/verification-ip-vs-testbench/"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43187" y="1509712"/>
            <a:ext cx="6905625" cy="3838575"/>
          </a:xfrm>
          <a:prstGeom prst="rect">
            <a:avLst/>
          </a:prstGeom>
        </p:spPr>
      </p:pic>
    </p:spTree>
    <p:extLst>
      <p:ext uri="{BB962C8B-B14F-4D97-AF65-F5344CB8AC3E}">
        <p14:creationId xmlns:p14="http://schemas.microsoft.com/office/powerpoint/2010/main" val="329791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0175" y="417513"/>
            <a:ext cx="9144000" cy="673186"/>
          </a:xfrm>
        </p:spPr>
        <p:txBody>
          <a:bodyPr>
            <a:normAutofit fontScale="90000"/>
          </a:bodyPr>
          <a:lstStyle/>
          <a:p>
            <a:r>
              <a:rPr lang="en-IN" dirty="0" smtClean="0"/>
              <a:t>VLSI Technology Overview</a:t>
            </a:r>
            <a:endParaRPr lang="en-IN" dirty="0"/>
          </a:p>
        </p:txBody>
      </p:sp>
      <p:sp>
        <p:nvSpPr>
          <p:cNvPr id="3" name="Subtitle 2"/>
          <p:cNvSpPr>
            <a:spLocks noGrp="1"/>
          </p:cNvSpPr>
          <p:nvPr>
            <p:ph type="subTitle" idx="1"/>
          </p:nvPr>
        </p:nvSpPr>
        <p:spPr>
          <a:xfrm>
            <a:off x="1524000" y="1007533"/>
            <a:ext cx="9144000" cy="4886191"/>
          </a:xfrm>
        </p:spPr>
        <p:txBody>
          <a:bodyPr>
            <a:normAutofit fontScale="92500" lnSpcReduction="20000"/>
          </a:bodyPr>
          <a:lstStyle/>
          <a:p>
            <a:pPr algn="l"/>
            <a:r>
              <a:rPr lang="en-US" b="1" dirty="0" smtClean="0"/>
              <a:t>Introduction</a:t>
            </a:r>
          </a:p>
          <a:p>
            <a:pPr algn="just"/>
            <a:r>
              <a:rPr lang="en-US" b="1" dirty="0" smtClean="0"/>
              <a:t>Very Large Scale Integration (VLSI)</a:t>
            </a:r>
            <a:r>
              <a:rPr lang="en-US" dirty="0" smtClean="0"/>
              <a:t> is the process of integrating millions or even billions of transistors onto a single silicon chip to implement complex electronic systems. Modern electronic devices such as smartphones, laptops, smart televisions, medical equipment, automotive controllers, and artificial intelligence (AI) processors are all built using VLSI technology. </a:t>
            </a:r>
          </a:p>
          <a:p>
            <a:pPr algn="just"/>
            <a:r>
              <a:rPr lang="en-US" dirty="0" smtClean="0"/>
              <a:t>VLSI has transformed electronics by enabling higher functionality, lower power consumption, reduced cost, and smaller device size.</a:t>
            </a:r>
          </a:p>
          <a:p>
            <a:pPr algn="just"/>
            <a:r>
              <a:rPr lang="en-US" dirty="0" smtClean="0"/>
              <a:t>The foundation of VLSI lies in semiconductor technology, particularly CMOS (Complementary Metal-Oxide-Semiconductor), which provides high-speed operation with very low power dissipation. Continuous advancements in fabrication technology have allowed transistor sizes to shrink from micrometers to nanometers, enabling more devices to be integrated on a single chip.</a:t>
            </a:r>
          </a:p>
          <a:p>
            <a:pPr lvl="0" algn="just"/>
            <a:r>
              <a:rPr lang="en-US" altLang="en-US" dirty="0">
                <a:solidFill>
                  <a:srgbClr val="FF0000"/>
                </a:solidFill>
                <a:latin typeface="Arial" panose="020B0604020202020204" pitchFamily="34" charset="0"/>
              </a:rPr>
              <a:t>Modern semiconductor fabrication uses advanced technology nodes such as 28 nm, 14 nm, 7 nm, 5 nm, and 3 nm</a:t>
            </a:r>
            <a:r>
              <a:rPr lang="en-US" altLang="en-US" dirty="0">
                <a:latin typeface="Arial" panose="020B0604020202020204" pitchFamily="34" charset="0"/>
              </a:rPr>
              <a:t>. </a:t>
            </a:r>
          </a:p>
          <a:p>
            <a:pPr algn="just"/>
            <a:endParaRPr lang="en-US" dirty="0" smtClean="0"/>
          </a:p>
          <a:p>
            <a:pPr algn="just"/>
            <a:endParaRPr lang="en-US" dirty="0" smtClean="0"/>
          </a:p>
          <a:p>
            <a:endParaRPr lang="en-IN" dirty="0"/>
          </a:p>
        </p:txBody>
      </p:sp>
    </p:spTree>
    <p:extLst>
      <p:ext uri="{BB962C8B-B14F-4D97-AF65-F5344CB8AC3E}">
        <p14:creationId xmlns:p14="http://schemas.microsoft.com/office/powerpoint/2010/main" val="111687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495300"/>
            <a:ext cx="8801100" cy="4524315"/>
          </a:xfrm>
          <a:prstGeom prst="rect">
            <a:avLst/>
          </a:prstGeom>
        </p:spPr>
        <p:txBody>
          <a:bodyPr wrap="square" numCol="2" anchor="t">
            <a:spAutoFit/>
          </a:bodyPr>
          <a:lstStyle/>
          <a:p>
            <a:r>
              <a:rPr lang="en-US" b="1" dirty="0" smtClean="0">
                <a:solidFill>
                  <a:srgbClr val="FF0000"/>
                </a:solidFill>
              </a:rPr>
              <a:t>Objectives of VLSI</a:t>
            </a:r>
          </a:p>
          <a:p>
            <a:pPr>
              <a:buFont typeface="Arial" panose="020B0604020202020204" pitchFamily="34" charset="0"/>
              <a:buChar char="•"/>
            </a:pPr>
            <a:r>
              <a:rPr lang="en-US" dirty="0" smtClean="0"/>
              <a:t>Increase the number of transistors on a chip. </a:t>
            </a:r>
          </a:p>
          <a:p>
            <a:pPr>
              <a:buFont typeface="Arial" panose="020B0604020202020204" pitchFamily="34" charset="0"/>
              <a:buChar char="•"/>
            </a:pPr>
            <a:r>
              <a:rPr lang="en-US" dirty="0" smtClean="0"/>
              <a:t>Improve operating speed. </a:t>
            </a:r>
          </a:p>
          <a:p>
            <a:pPr>
              <a:buFont typeface="Arial" panose="020B0604020202020204" pitchFamily="34" charset="0"/>
              <a:buChar char="•"/>
            </a:pPr>
            <a:r>
              <a:rPr lang="en-US" dirty="0" smtClean="0"/>
              <a:t>Reduce power consumption. </a:t>
            </a:r>
          </a:p>
          <a:p>
            <a:pPr>
              <a:buFont typeface="Arial" panose="020B0604020202020204" pitchFamily="34" charset="0"/>
              <a:buChar char="•"/>
            </a:pPr>
            <a:r>
              <a:rPr lang="en-US" dirty="0" smtClean="0"/>
              <a:t>Minimize chip area. </a:t>
            </a:r>
          </a:p>
          <a:p>
            <a:pPr>
              <a:buFont typeface="Arial" panose="020B0604020202020204" pitchFamily="34" charset="0"/>
              <a:buChar char="•"/>
            </a:pPr>
            <a:r>
              <a:rPr lang="en-US" dirty="0" smtClean="0"/>
              <a:t>Lower manufacturing cost. </a:t>
            </a:r>
          </a:p>
          <a:p>
            <a:pPr>
              <a:buFont typeface="Arial" panose="020B0604020202020204" pitchFamily="34" charset="0"/>
              <a:buChar char="•"/>
            </a:pPr>
            <a:r>
              <a:rPr lang="en-US" dirty="0" smtClean="0"/>
              <a:t>Enhance system reliability.</a:t>
            </a:r>
          </a:p>
          <a:p>
            <a:endParaRPr lang="en-US" b="1" dirty="0" smtClean="0"/>
          </a:p>
          <a:p>
            <a:r>
              <a:rPr lang="en-US" b="1" dirty="0" smtClean="0">
                <a:solidFill>
                  <a:srgbClr val="FF0000"/>
                </a:solidFill>
              </a:rPr>
              <a:t>Characteristics of VLSI</a:t>
            </a:r>
          </a:p>
          <a:p>
            <a:r>
              <a:rPr lang="en-US" dirty="0" smtClean="0"/>
              <a:t>High integration density </a:t>
            </a:r>
          </a:p>
          <a:p>
            <a:r>
              <a:rPr lang="en-US" dirty="0" smtClean="0"/>
              <a:t>High processing speed </a:t>
            </a:r>
          </a:p>
          <a:p>
            <a:r>
              <a:rPr lang="en-US" dirty="0" smtClean="0"/>
              <a:t>Low power consumption </a:t>
            </a:r>
          </a:p>
          <a:p>
            <a:r>
              <a:rPr lang="en-US" dirty="0" smtClean="0"/>
              <a:t>Compact size </a:t>
            </a:r>
          </a:p>
          <a:p>
            <a:r>
              <a:rPr lang="en-US" dirty="0" smtClean="0"/>
              <a:t>High reliability </a:t>
            </a:r>
          </a:p>
          <a:p>
            <a:r>
              <a:rPr lang="en-US" dirty="0" smtClean="0"/>
              <a:t>Low manufacturing cost</a:t>
            </a:r>
          </a:p>
          <a:p>
            <a:endParaRPr lang="en-US" dirty="0"/>
          </a:p>
          <a:p>
            <a:r>
              <a:rPr lang="en-US" b="1" dirty="0" smtClean="0">
                <a:solidFill>
                  <a:srgbClr val="FF0000"/>
                </a:solidFill>
              </a:rPr>
              <a:t>Advantages</a:t>
            </a:r>
            <a:endParaRPr lang="en-US" dirty="0" smtClean="0">
              <a:solidFill>
                <a:srgbClr val="FF0000"/>
              </a:solidFill>
            </a:endParaRPr>
          </a:p>
          <a:p>
            <a:r>
              <a:rPr lang="en-US" dirty="0" smtClean="0"/>
              <a:t>Compact </a:t>
            </a:r>
            <a:r>
              <a:rPr lang="en-US" dirty="0"/>
              <a:t>size </a:t>
            </a:r>
          </a:p>
          <a:p>
            <a:r>
              <a:rPr lang="en-US" dirty="0"/>
              <a:t>Low power </a:t>
            </a:r>
          </a:p>
          <a:p>
            <a:r>
              <a:rPr lang="en-US" dirty="0"/>
              <a:t>High performance </a:t>
            </a:r>
          </a:p>
          <a:p>
            <a:r>
              <a:rPr lang="en-US" dirty="0"/>
              <a:t>High reliability </a:t>
            </a:r>
          </a:p>
          <a:p>
            <a:r>
              <a:rPr lang="en-US" dirty="0"/>
              <a:t>Low production cost </a:t>
            </a:r>
          </a:p>
          <a:p>
            <a:r>
              <a:rPr lang="en-US" dirty="0"/>
              <a:t>Supports complex digital systems</a:t>
            </a:r>
          </a:p>
          <a:p>
            <a:endParaRPr lang="en-US" dirty="0" smtClean="0"/>
          </a:p>
          <a:p>
            <a:r>
              <a:rPr lang="en-US" b="1" dirty="0">
                <a:solidFill>
                  <a:srgbClr val="FF0000"/>
                </a:solidFill>
              </a:rPr>
              <a:t>Challenges</a:t>
            </a:r>
          </a:p>
          <a:p>
            <a:r>
              <a:rPr lang="en-US" dirty="0"/>
              <a:t>Process variations </a:t>
            </a:r>
          </a:p>
          <a:p>
            <a:r>
              <a:rPr lang="en-US" dirty="0"/>
              <a:t>Power dissipation </a:t>
            </a:r>
          </a:p>
          <a:p>
            <a:r>
              <a:rPr lang="en-US" dirty="0"/>
              <a:t>Heat management </a:t>
            </a:r>
          </a:p>
          <a:p>
            <a:r>
              <a:rPr lang="en-US" dirty="0"/>
              <a:t>Signal integrity </a:t>
            </a:r>
          </a:p>
          <a:p>
            <a:r>
              <a:rPr lang="en-US" dirty="0"/>
              <a:t>Verification complexity </a:t>
            </a:r>
          </a:p>
          <a:p>
            <a:r>
              <a:rPr lang="en-US" dirty="0"/>
              <a:t>Manufacturing cos</a:t>
            </a:r>
          </a:p>
          <a:p>
            <a:endParaRPr lang="en-US" dirty="0"/>
          </a:p>
        </p:txBody>
      </p:sp>
    </p:spTree>
    <p:extLst>
      <p:ext uri="{BB962C8B-B14F-4D97-AF65-F5344CB8AC3E}">
        <p14:creationId xmlns:p14="http://schemas.microsoft.com/office/powerpoint/2010/main" val="15770284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5141" y="498764"/>
            <a:ext cx="10183091" cy="5355312"/>
          </a:xfrm>
          <a:prstGeom prst="rect">
            <a:avLst/>
          </a:prstGeom>
        </p:spPr>
        <p:txBody>
          <a:bodyPr wrap="square">
            <a:spAutoFit/>
          </a:bodyPr>
          <a:lstStyle/>
          <a:p>
            <a:r>
              <a:rPr lang="en-US" b="1" dirty="0">
                <a:solidFill>
                  <a:srgbClr val="FF0000"/>
                </a:solidFill>
                <a:latin typeface="Google Sans"/>
              </a:rPr>
              <a:t>The Design </a:t>
            </a:r>
            <a:r>
              <a:rPr lang="en-US" b="1" dirty="0" smtClean="0">
                <a:solidFill>
                  <a:srgbClr val="FF0000"/>
                </a:solidFill>
                <a:latin typeface="Google Sans"/>
              </a:rPr>
              <a:t>Process</a:t>
            </a:r>
            <a:endParaRPr lang="en-US" b="1" dirty="0">
              <a:solidFill>
                <a:srgbClr val="FF0000"/>
              </a:solidFill>
              <a:latin typeface="Google Sans"/>
            </a:endParaRPr>
          </a:p>
          <a:p>
            <a:r>
              <a:rPr lang="en-US" dirty="0">
                <a:latin typeface="Google Sans"/>
              </a:rPr>
              <a:t>Creating a VLSI chip involves turning ideas into physical hardware using specialized software. The main steps include</a:t>
            </a:r>
            <a:r>
              <a:rPr lang="en-US" dirty="0" smtClean="0">
                <a:latin typeface="Google Sans"/>
              </a:rPr>
              <a:t>:</a:t>
            </a:r>
            <a:endParaRPr lang="en-US" dirty="0">
              <a:latin typeface="Google Sans"/>
            </a:endParaRPr>
          </a:p>
          <a:p>
            <a:pPr>
              <a:buFont typeface="+mj-lt"/>
              <a:buAutoNum type="arabicPeriod"/>
            </a:pPr>
            <a:r>
              <a:rPr lang="en-US" b="1" dirty="0">
                <a:latin typeface="Google Sans"/>
              </a:rPr>
              <a:t>Coding:</a:t>
            </a:r>
            <a:r>
              <a:rPr lang="en-US" dirty="0">
                <a:latin typeface="Google Sans"/>
              </a:rPr>
              <a:t> Engineers write code (using languages like Verilog or VHDL) to tell the chip what to do.</a:t>
            </a:r>
          </a:p>
          <a:p>
            <a:pPr>
              <a:buFont typeface="+mj-lt"/>
              <a:buAutoNum type="arabicPeriod"/>
            </a:pPr>
            <a:r>
              <a:rPr lang="en-US" b="1" dirty="0">
                <a:latin typeface="Google Sans"/>
              </a:rPr>
              <a:t>Simulation:</a:t>
            </a:r>
            <a:r>
              <a:rPr lang="en-US" dirty="0">
                <a:latin typeface="Google Sans"/>
              </a:rPr>
              <a:t> Software tests the code to make sure there are no bugs.</a:t>
            </a:r>
          </a:p>
          <a:p>
            <a:pPr>
              <a:buFont typeface="+mj-lt"/>
              <a:buAutoNum type="arabicPeriod"/>
            </a:pPr>
            <a:r>
              <a:rPr lang="en-US" b="1" dirty="0">
                <a:latin typeface="Google Sans"/>
              </a:rPr>
              <a:t>Layout:</a:t>
            </a:r>
            <a:r>
              <a:rPr lang="en-US" dirty="0">
                <a:latin typeface="Google Sans"/>
              </a:rPr>
              <a:t> Engineers draw the physical placement of transistors on the silicon.</a:t>
            </a:r>
          </a:p>
          <a:p>
            <a:pPr>
              <a:buFont typeface="+mj-lt"/>
              <a:buAutoNum type="arabicPeriod"/>
            </a:pPr>
            <a:r>
              <a:rPr lang="en-US" b="1" dirty="0">
                <a:latin typeface="Google Sans"/>
              </a:rPr>
              <a:t>Fabrication:</a:t>
            </a:r>
            <a:r>
              <a:rPr lang="en-US" dirty="0">
                <a:latin typeface="Google Sans"/>
              </a:rPr>
              <a:t> The final design is printed onto a silicon wafer in a highly precise factory</a:t>
            </a:r>
            <a:r>
              <a:rPr lang="en-US" dirty="0" smtClean="0">
                <a:latin typeface="Google Sans"/>
              </a:rPr>
              <a:t>.</a:t>
            </a:r>
          </a:p>
          <a:p>
            <a:pPr>
              <a:buFont typeface="+mj-lt"/>
              <a:buAutoNum type="arabicPeriod"/>
            </a:pPr>
            <a:endParaRPr lang="en-US" b="0" u="none" strike="noStrike" dirty="0">
              <a:effectLst/>
              <a:latin typeface="Google Sans"/>
            </a:endParaRPr>
          </a:p>
          <a:p>
            <a:r>
              <a:rPr lang="en-US" b="1" dirty="0">
                <a:solidFill>
                  <a:srgbClr val="FF0000"/>
                </a:solidFill>
              </a:rPr>
              <a:t>Real-World </a:t>
            </a:r>
            <a:r>
              <a:rPr lang="en-US" b="1" dirty="0" smtClean="0">
                <a:solidFill>
                  <a:srgbClr val="FF0000"/>
                </a:solidFill>
              </a:rPr>
              <a:t>Uses</a:t>
            </a:r>
          </a:p>
          <a:p>
            <a:endParaRPr lang="en-US" b="1" dirty="0">
              <a:solidFill>
                <a:srgbClr val="FF0000"/>
              </a:solidFill>
            </a:endParaRPr>
          </a:p>
          <a:p>
            <a:r>
              <a:rPr lang="en-US" dirty="0"/>
              <a:t>VLSI technology is the foundation of modern technology. Common examples include: </a:t>
            </a:r>
            <a:endParaRPr lang="en-US" dirty="0" smtClean="0"/>
          </a:p>
          <a:p>
            <a:r>
              <a:rPr lang="en-US" b="1" dirty="0" smtClean="0"/>
              <a:t>1. Mobile </a:t>
            </a:r>
            <a:r>
              <a:rPr lang="en-US" b="1" dirty="0"/>
              <a:t>Phones:</a:t>
            </a:r>
            <a:r>
              <a:rPr lang="en-US" dirty="0"/>
              <a:t> Chips process data quickly for 5G and mobile games.</a:t>
            </a:r>
          </a:p>
          <a:p>
            <a:r>
              <a:rPr lang="en-US" b="1" dirty="0" smtClean="0"/>
              <a:t>2. Automotive</a:t>
            </a:r>
            <a:r>
              <a:rPr lang="en-US" b="1" dirty="0"/>
              <a:t>:</a:t>
            </a:r>
            <a:r>
              <a:rPr lang="en-US" dirty="0"/>
              <a:t> Chips run safety features and the dashboard.</a:t>
            </a:r>
          </a:p>
          <a:p>
            <a:r>
              <a:rPr lang="en-US" b="1" dirty="0" smtClean="0"/>
              <a:t>3. AI </a:t>
            </a:r>
            <a:r>
              <a:rPr lang="en-US" b="1" dirty="0"/>
              <a:t>and Computers:</a:t>
            </a:r>
            <a:r>
              <a:rPr lang="en-US" dirty="0"/>
              <a:t> Chips perform complex tasks like training AI models.</a:t>
            </a:r>
          </a:p>
          <a:p>
            <a:r>
              <a:rPr lang="en-US" b="1" dirty="0" smtClean="0"/>
              <a:t>4. Smart </a:t>
            </a:r>
            <a:r>
              <a:rPr lang="en-US" b="1" dirty="0"/>
              <a:t>Home Devices:</a:t>
            </a:r>
            <a:r>
              <a:rPr lang="en-US" dirty="0"/>
              <a:t> Chips control small gadgets while saving battery. </a:t>
            </a:r>
            <a:endParaRPr lang="en-US" dirty="0" smtClean="0">
              <a:latin typeface="Google Sans"/>
            </a:endParaRPr>
          </a:p>
          <a:p>
            <a:pPr>
              <a:buFont typeface="+mj-lt"/>
              <a:buAutoNum type="arabicPeriod"/>
            </a:pPr>
            <a:endParaRPr lang="en-US" b="0" u="none" strike="noStrike" dirty="0">
              <a:effectLst/>
              <a:latin typeface="Google Sans"/>
            </a:endParaRPr>
          </a:p>
          <a:p>
            <a:pPr>
              <a:buFont typeface="+mj-lt"/>
              <a:buAutoNum type="arabicPeriod"/>
            </a:pPr>
            <a:endParaRPr lang="en-US" dirty="0" smtClean="0">
              <a:latin typeface="Google Sans"/>
            </a:endParaRPr>
          </a:p>
          <a:p>
            <a:pPr>
              <a:buFont typeface="+mj-lt"/>
              <a:buAutoNum type="arabicPeriod"/>
            </a:pPr>
            <a:endParaRPr lang="en-US" b="0" u="none" strike="noStrike" dirty="0">
              <a:effectLst/>
              <a:latin typeface="Google Sans"/>
            </a:endParaRPr>
          </a:p>
          <a:p>
            <a:endParaRPr lang="en-US" b="0" u="none" strike="noStrike" dirty="0">
              <a:effectLst/>
              <a:latin typeface="Google Sans"/>
            </a:endParaRPr>
          </a:p>
        </p:txBody>
      </p:sp>
    </p:spTree>
    <p:extLst>
      <p:ext uri="{BB962C8B-B14F-4D97-AF65-F5344CB8AC3E}">
        <p14:creationId xmlns:p14="http://schemas.microsoft.com/office/powerpoint/2010/main" val="38075375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3949" y="457200"/>
            <a:ext cx="8720051" cy="7571303"/>
          </a:xfrm>
          <a:prstGeom prst="rect">
            <a:avLst/>
          </a:prstGeom>
        </p:spPr>
        <p:txBody>
          <a:bodyPr wrap="square">
            <a:spAutoFit/>
          </a:bodyPr>
          <a:lstStyle/>
          <a:p>
            <a:r>
              <a:rPr lang="en-US" b="1" dirty="0">
                <a:solidFill>
                  <a:srgbClr val="FF0000"/>
                </a:solidFill>
              </a:rPr>
              <a:t>Intellectual Property (IP)</a:t>
            </a:r>
          </a:p>
          <a:p>
            <a:r>
              <a:rPr lang="en-US" dirty="0" smtClean="0"/>
              <a:t>Intellectual </a:t>
            </a:r>
            <a:r>
              <a:rPr lang="en-US" dirty="0"/>
              <a:t>Property (IP) blocks are reusable building blocks in modern chip design. Instead of building a whole chip from scratch, engineers combine these pre-made IP cores (like Lego blocks) to build a System-on-Chip (</a:t>
            </a:r>
            <a:r>
              <a:rPr lang="en-US" dirty="0" err="1"/>
              <a:t>SoC</a:t>
            </a:r>
            <a:r>
              <a:rPr lang="en-US" dirty="0"/>
              <a:t>). </a:t>
            </a:r>
            <a:endParaRPr lang="en-US" dirty="0" smtClean="0"/>
          </a:p>
          <a:p>
            <a:r>
              <a:rPr lang="en-US" dirty="0" smtClean="0"/>
              <a:t>A </a:t>
            </a:r>
            <a:r>
              <a:rPr lang="en-US" dirty="0"/>
              <a:t>subsystem is a smaller, pre-verified cluster of IPs grouped to perform one specific job. </a:t>
            </a:r>
            <a:endParaRPr lang="en-US" dirty="0" smtClean="0"/>
          </a:p>
          <a:p>
            <a:endParaRPr lang="en-US" dirty="0"/>
          </a:p>
          <a:p>
            <a:r>
              <a:rPr lang="en-US" b="1" dirty="0">
                <a:solidFill>
                  <a:srgbClr val="FF0000"/>
                </a:solidFill>
              </a:rPr>
              <a:t>Why We Use IP Subsystems</a:t>
            </a:r>
          </a:p>
          <a:p>
            <a:r>
              <a:rPr lang="en-US" dirty="0"/>
              <a:t>Building a modern chip is incredibly complex. Engineers use pre-tested IP subsystems to save time. Instead of spending months figuring out complex rules like USB or </a:t>
            </a:r>
            <a:r>
              <a:rPr lang="en-US" dirty="0" smtClean="0"/>
              <a:t>PCI </a:t>
            </a:r>
            <a:r>
              <a:rPr lang="en-US" dirty="0"/>
              <a:t>standards, companies buy a ready-made subsystem from a company like </a:t>
            </a:r>
            <a:r>
              <a:rPr lang="en-US" dirty="0">
                <a:hlinkClick r:id="rId2"/>
              </a:rPr>
              <a:t>Synopsys</a:t>
            </a:r>
            <a:r>
              <a:rPr lang="en-US" dirty="0"/>
              <a:t>. This lets engineers focus on their own unique ideas instead of reinventing basic parts.</a:t>
            </a:r>
          </a:p>
          <a:p>
            <a:endParaRPr lang="en-US" dirty="0" smtClean="0"/>
          </a:p>
          <a:p>
            <a:r>
              <a:rPr lang="en-US" b="1" dirty="0">
                <a:solidFill>
                  <a:srgbClr val="FF0000"/>
                </a:solidFill>
              </a:rPr>
              <a:t>Testing and Verification</a:t>
            </a:r>
          </a:p>
          <a:p>
            <a:r>
              <a:rPr lang="en-US" dirty="0"/>
              <a:t>Before combining all the IP subsystems into a final chip, engineers must test them. </a:t>
            </a:r>
          </a:p>
          <a:p>
            <a:r>
              <a:rPr lang="en-US" b="1" dirty="0"/>
              <a:t>IP Verification:</a:t>
            </a:r>
            <a:r>
              <a:rPr lang="en-US" dirty="0"/>
              <a:t> Testing a single module to ensure it acts as it should.</a:t>
            </a:r>
          </a:p>
          <a:p>
            <a:r>
              <a:rPr lang="en-US" b="1" dirty="0" smtClean="0"/>
              <a:t>Subsystem Verification:</a:t>
            </a:r>
            <a:r>
              <a:rPr lang="en-US" dirty="0" smtClean="0"/>
              <a:t> Testing a whole group of IPs together to ensure they talk to each other correctly.</a:t>
            </a:r>
          </a:p>
          <a:p>
            <a:endParaRPr lang="en-US" dirty="0" smtClean="0"/>
          </a:p>
          <a:p>
            <a:r>
              <a:rPr lang="en-US" b="1" dirty="0" smtClean="0">
                <a:solidFill>
                  <a:srgbClr val="FF0000"/>
                </a:solidFill>
              </a:rPr>
              <a:t>The Future: </a:t>
            </a:r>
            <a:r>
              <a:rPr lang="en-US" b="1" dirty="0" err="1" smtClean="0">
                <a:solidFill>
                  <a:srgbClr val="FF0000"/>
                </a:solidFill>
              </a:rPr>
              <a:t>Chiplets</a:t>
            </a:r>
            <a:endParaRPr lang="en-US" b="1" dirty="0" smtClean="0">
              <a:solidFill>
                <a:srgbClr val="FF0000"/>
              </a:solidFill>
            </a:endParaRPr>
          </a:p>
          <a:p>
            <a:r>
              <a:rPr lang="en-US" dirty="0" smtClean="0"/>
              <a:t>Modern </a:t>
            </a:r>
            <a:r>
              <a:rPr lang="en-US" dirty="0"/>
              <a:t>chips are hitting size limits. Instead of building one massive chip, engineers are now breaking the chip into smaller, modular "</a:t>
            </a:r>
            <a:r>
              <a:rPr lang="en-US" dirty="0" err="1"/>
              <a:t>chiplets</a:t>
            </a:r>
            <a:r>
              <a:rPr lang="en-US" dirty="0"/>
              <a:t>." This allows a company to place different IP subsystems onto separate, tiny chips and package them </a:t>
            </a:r>
            <a:r>
              <a:rPr lang="en-US" dirty="0" smtClean="0"/>
              <a:t>together.</a:t>
            </a:r>
            <a:endParaRPr lang="en-US" dirty="0"/>
          </a:p>
          <a:p>
            <a:endParaRPr lang="en-US" dirty="0" smtClean="0"/>
          </a:p>
          <a:p>
            <a:endParaRPr lang="en-US" dirty="0"/>
          </a:p>
          <a:p>
            <a:endParaRPr lang="en-US" dirty="0" smtClean="0"/>
          </a:p>
          <a:p>
            <a:endParaRPr lang="en-IN" dirty="0"/>
          </a:p>
        </p:txBody>
      </p:sp>
    </p:spTree>
    <p:extLst>
      <p:ext uri="{BB962C8B-B14F-4D97-AF65-F5344CB8AC3E}">
        <p14:creationId xmlns:p14="http://schemas.microsoft.com/office/powerpoint/2010/main" val="3813623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246" y="452674"/>
            <a:ext cx="8763754" cy="3139321"/>
          </a:xfrm>
          <a:prstGeom prst="rect">
            <a:avLst/>
          </a:prstGeom>
        </p:spPr>
        <p:txBody>
          <a:bodyPr wrap="square">
            <a:spAutoFit/>
          </a:bodyPr>
          <a:lstStyle/>
          <a:p>
            <a:r>
              <a:rPr lang="en-US" dirty="0">
                <a:solidFill>
                  <a:srgbClr val="FF0000"/>
                </a:solidFill>
              </a:rPr>
              <a:t>IP (Intellectual Property)</a:t>
            </a:r>
            <a:r>
              <a:rPr lang="en-US" dirty="0"/>
              <a:t> verification is a critical process in semiconductor and System-on-Chip (</a:t>
            </a:r>
            <a:r>
              <a:rPr lang="en-US" dirty="0" err="1"/>
              <a:t>SoC</a:t>
            </a:r>
            <a:r>
              <a:rPr lang="en-US" dirty="0"/>
              <a:t>) design that ensures pre-designed IP blocks, such as processor cores, memory units, communication interfaces, and hardware accelerators, function correctly before integration into a larger system. </a:t>
            </a:r>
            <a:endParaRPr lang="en-US" dirty="0" smtClean="0"/>
          </a:p>
          <a:p>
            <a:endParaRPr lang="en-US" dirty="0" smtClean="0"/>
          </a:p>
          <a:p>
            <a:r>
              <a:rPr lang="en-US" dirty="0" smtClean="0"/>
              <a:t>The </a:t>
            </a:r>
            <a:r>
              <a:rPr lang="en-US" dirty="0"/>
              <a:t>process primarily involves </a:t>
            </a:r>
            <a:r>
              <a:rPr lang="en-US" b="1" dirty="0"/>
              <a:t>functional verification</a:t>
            </a:r>
            <a:r>
              <a:rPr lang="en-US" dirty="0"/>
              <a:t>, where engineers use </a:t>
            </a:r>
            <a:r>
              <a:rPr lang="en-US" dirty="0" err="1"/>
              <a:t>testbenches</a:t>
            </a:r>
            <a:r>
              <a:rPr lang="en-US" dirty="0"/>
              <a:t>, checkers, and test cases to validate the IP under different operating conditions. It also includes </a:t>
            </a:r>
            <a:r>
              <a:rPr lang="en-US" b="1" dirty="0"/>
              <a:t>corner-case</a:t>
            </a:r>
            <a:r>
              <a:rPr lang="en-US" dirty="0"/>
              <a:t> and </a:t>
            </a:r>
            <a:r>
              <a:rPr lang="en-US" b="1" dirty="0"/>
              <a:t>stress testing</a:t>
            </a:r>
            <a:r>
              <a:rPr lang="en-US" dirty="0"/>
              <a:t> to identify and resolve potential issues. </a:t>
            </a:r>
            <a:endParaRPr lang="en-US" dirty="0" smtClean="0"/>
          </a:p>
          <a:p>
            <a:endParaRPr lang="en-US" dirty="0"/>
          </a:p>
          <a:p>
            <a:r>
              <a:rPr lang="en-US" dirty="0" smtClean="0"/>
              <a:t>Effective </a:t>
            </a:r>
            <a:r>
              <a:rPr lang="en-US" dirty="0"/>
              <a:t>IP verification improves the reliability, functionality, and overall quality of the final chip design.</a:t>
            </a:r>
            <a:endParaRPr lang="en-IN" dirty="0"/>
          </a:p>
        </p:txBody>
      </p:sp>
    </p:spTree>
    <p:extLst>
      <p:ext uri="{BB962C8B-B14F-4D97-AF65-F5344CB8AC3E}">
        <p14:creationId xmlns:p14="http://schemas.microsoft.com/office/powerpoint/2010/main" val="3222135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8844" y="706171"/>
            <a:ext cx="7985156" cy="3970318"/>
          </a:xfrm>
          <a:prstGeom prst="rect">
            <a:avLst/>
          </a:prstGeom>
        </p:spPr>
        <p:txBody>
          <a:bodyPr wrap="square">
            <a:spAutoFit/>
          </a:bodyPr>
          <a:lstStyle/>
          <a:p>
            <a:r>
              <a:rPr lang="en-US" b="1" dirty="0">
                <a:solidFill>
                  <a:srgbClr val="FF0000"/>
                </a:solidFill>
              </a:rPr>
              <a:t>Subsystem Verification</a:t>
            </a:r>
            <a:endParaRPr lang="en-US" dirty="0">
              <a:solidFill>
                <a:srgbClr val="FF0000"/>
              </a:solidFill>
            </a:endParaRPr>
          </a:p>
          <a:p>
            <a:r>
              <a:rPr lang="en-US" dirty="0"/>
              <a:t>Subsystem verification ensures that individual subsystems, such as GPUs, memory controllers, and communication interfaces, function correctly and integrate seamlessly within a larger electronic system. </a:t>
            </a:r>
            <a:endParaRPr lang="en-US" dirty="0" smtClean="0"/>
          </a:p>
          <a:p>
            <a:endParaRPr lang="en-US" dirty="0" smtClean="0"/>
          </a:p>
          <a:p>
            <a:r>
              <a:rPr lang="en-US" dirty="0" smtClean="0"/>
              <a:t>It </a:t>
            </a:r>
            <a:r>
              <a:rPr lang="en-US" dirty="0"/>
              <a:t>includes </a:t>
            </a:r>
            <a:r>
              <a:rPr lang="en-US" b="1" dirty="0"/>
              <a:t>functional verification</a:t>
            </a:r>
            <a:r>
              <a:rPr lang="en-US" dirty="0"/>
              <a:t> to validate subsystem behavior, </a:t>
            </a:r>
            <a:r>
              <a:rPr lang="en-US" b="1" dirty="0"/>
              <a:t>performance validation</a:t>
            </a:r>
            <a:r>
              <a:rPr lang="en-US" dirty="0"/>
              <a:t> to assess speed, power, and efficiency, and </a:t>
            </a:r>
            <a:r>
              <a:rPr lang="en-US" b="1" dirty="0"/>
              <a:t>compatibility testing</a:t>
            </a:r>
            <a:r>
              <a:rPr lang="en-US" dirty="0"/>
              <a:t> to ensure proper interaction with other modules</a:t>
            </a:r>
            <a:r>
              <a:rPr lang="en-US" dirty="0" smtClean="0"/>
              <a:t>.</a:t>
            </a:r>
          </a:p>
          <a:p>
            <a:endParaRPr lang="en-US" dirty="0" smtClean="0"/>
          </a:p>
          <a:p>
            <a:r>
              <a:rPr lang="en-US" dirty="0" smtClean="0"/>
              <a:t> </a:t>
            </a:r>
            <a:r>
              <a:rPr lang="en-US" dirty="0"/>
              <a:t>Engineers also perform </a:t>
            </a:r>
            <a:r>
              <a:rPr lang="en-US" b="1" dirty="0"/>
              <a:t>corner-case testing</a:t>
            </a:r>
            <a:r>
              <a:rPr lang="en-US" dirty="0"/>
              <a:t> to verify robustness under extreme conditions and </a:t>
            </a:r>
            <a:r>
              <a:rPr lang="en-US" b="1" dirty="0"/>
              <a:t>integration testing</a:t>
            </a:r>
            <a:r>
              <a:rPr lang="en-US" dirty="0"/>
              <a:t> to confirm smooth communication and operation within the complete system. </a:t>
            </a:r>
            <a:endParaRPr lang="en-US" dirty="0" smtClean="0"/>
          </a:p>
          <a:p>
            <a:endParaRPr lang="en-US" dirty="0" smtClean="0"/>
          </a:p>
          <a:p>
            <a:r>
              <a:rPr lang="en-US" dirty="0" smtClean="0"/>
              <a:t>This </a:t>
            </a:r>
            <a:r>
              <a:rPr lang="en-US" dirty="0"/>
              <a:t>process helps ensure reliable and efficient system performance.</a:t>
            </a:r>
          </a:p>
        </p:txBody>
      </p:sp>
    </p:spTree>
    <p:extLst>
      <p:ext uri="{BB962C8B-B14F-4D97-AF65-F5344CB8AC3E}">
        <p14:creationId xmlns:p14="http://schemas.microsoft.com/office/powerpoint/2010/main" val="1166864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0943" y="366053"/>
            <a:ext cx="4480714" cy="369332"/>
          </a:xfrm>
          <a:prstGeom prst="rect">
            <a:avLst/>
          </a:prstGeom>
        </p:spPr>
        <p:txBody>
          <a:bodyPr wrap="none">
            <a:spAutoFit/>
          </a:bodyPr>
          <a:lstStyle/>
          <a:p>
            <a:r>
              <a:rPr lang="en-US" b="1" dirty="0">
                <a:solidFill>
                  <a:srgbClr val="212529"/>
                </a:solidFill>
                <a:latin typeface="Be Vietnam Pro"/>
              </a:rPr>
              <a:t>What is System on Chip (</a:t>
            </a:r>
            <a:r>
              <a:rPr lang="en-US" b="1" dirty="0" err="1">
                <a:solidFill>
                  <a:srgbClr val="212529"/>
                </a:solidFill>
                <a:latin typeface="Be Vietnam Pro"/>
              </a:rPr>
              <a:t>SoC</a:t>
            </a:r>
            <a:r>
              <a:rPr lang="en-US" b="1" dirty="0">
                <a:solidFill>
                  <a:srgbClr val="212529"/>
                </a:solidFill>
                <a:latin typeface="Be Vietnam Pro"/>
              </a:rPr>
              <a:t>) in VLSI?</a:t>
            </a:r>
            <a:endParaRPr lang="en-US" b="1" i="0" dirty="0">
              <a:solidFill>
                <a:srgbClr val="212529"/>
              </a:solidFill>
              <a:effectLst/>
              <a:latin typeface="Be Vietnam Pro"/>
            </a:endParaRPr>
          </a:p>
        </p:txBody>
      </p:sp>
      <p:sp>
        <p:nvSpPr>
          <p:cNvPr id="3" name="Rectangle 2"/>
          <p:cNvSpPr/>
          <p:nvPr/>
        </p:nvSpPr>
        <p:spPr>
          <a:xfrm>
            <a:off x="540943" y="820882"/>
            <a:ext cx="10504593" cy="5078313"/>
          </a:xfrm>
          <a:prstGeom prst="rect">
            <a:avLst/>
          </a:prstGeom>
        </p:spPr>
        <p:txBody>
          <a:bodyPr wrap="square">
            <a:spAutoFit/>
          </a:bodyPr>
          <a:lstStyle/>
          <a:p>
            <a:pPr marL="285750" indent="-285750" algn="just">
              <a:buFont typeface="Wingdings" panose="05000000000000000000" pitchFamily="2" charset="2"/>
              <a:buChar char="§"/>
            </a:pPr>
            <a:r>
              <a:rPr lang="en-US" dirty="0">
                <a:solidFill>
                  <a:srgbClr val="212529"/>
                </a:solidFill>
                <a:latin typeface="Nunito"/>
              </a:rPr>
              <a:t>A System on Chip (</a:t>
            </a:r>
            <a:r>
              <a:rPr lang="en-US" dirty="0" err="1">
                <a:solidFill>
                  <a:srgbClr val="212529"/>
                </a:solidFill>
                <a:latin typeface="Nunito"/>
              </a:rPr>
              <a:t>SoC</a:t>
            </a:r>
            <a:r>
              <a:rPr lang="en-US" dirty="0">
                <a:solidFill>
                  <a:srgbClr val="212529"/>
                </a:solidFill>
                <a:latin typeface="Nunito"/>
              </a:rPr>
              <a:t>) is a type of integrated circuit (IC) that integrates all the components of a computer or other electronic system into a single chip. </a:t>
            </a:r>
            <a:endParaRPr lang="en-US" dirty="0" smtClean="0">
              <a:solidFill>
                <a:srgbClr val="212529"/>
              </a:solidFill>
              <a:latin typeface="Nunito"/>
            </a:endParaRPr>
          </a:p>
          <a:p>
            <a:pPr marL="285750" indent="-285750" algn="just">
              <a:buFont typeface="Wingdings" panose="05000000000000000000" pitchFamily="2" charset="2"/>
              <a:buChar char="§"/>
            </a:pPr>
            <a:endParaRPr lang="en-US" dirty="0">
              <a:solidFill>
                <a:srgbClr val="212529"/>
              </a:solidFill>
              <a:latin typeface="Nunito"/>
            </a:endParaRPr>
          </a:p>
          <a:p>
            <a:pPr marL="285750" indent="-285750" algn="just">
              <a:buFont typeface="Wingdings" panose="05000000000000000000" pitchFamily="2" charset="2"/>
              <a:buChar char="§"/>
            </a:pPr>
            <a:r>
              <a:rPr lang="en-US" dirty="0" smtClean="0">
                <a:solidFill>
                  <a:srgbClr val="212529"/>
                </a:solidFill>
                <a:latin typeface="Nunito"/>
              </a:rPr>
              <a:t>In </a:t>
            </a:r>
            <a:r>
              <a:rPr lang="en-US" dirty="0">
                <a:solidFill>
                  <a:srgbClr val="212529"/>
                </a:solidFill>
                <a:latin typeface="Nunito"/>
              </a:rPr>
              <a:t>the field of Very Large Scale Integration (VLSI), </a:t>
            </a:r>
            <a:r>
              <a:rPr lang="en-US" dirty="0" err="1">
                <a:solidFill>
                  <a:srgbClr val="212529"/>
                </a:solidFill>
                <a:latin typeface="Nunito"/>
              </a:rPr>
              <a:t>SoCs</a:t>
            </a:r>
            <a:r>
              <a:rPr lang="en-US" dirty="0">
                <a:solidFill>
                  <a:srgbClr val="212529"/>
                </a:solidFill>
                <a:latin typeface="Nunito"/>
              </a:rPr>
              <a:t> are used to design and manufacture complex electronic systems with a high degree of integration and functionality.</a:t>
            </a:r>
          </a:p>
          <a:p>
            <a:pPr marL="285750" indent="-285750" algn="just">
              <a:buFont typeface="Wingdings" panose="05000000000000000000" pitchFamily="2" charset="2"/>
              <a:buChar char="§"/>
            </a:pPr>
            <a:endParaRPr lang="en-US" dirty="0" smtClean="0">
              <a:solidFill>
                <a:srgbClr val="212529"/>
              </a:solidFill>
              <a:latin typeface="Nunito"/>
            </a:endParaRPr>
          </a:p>
          <a:p>
            <a:pPr marL="285750" indent="-285750" algn="just">
              <a:buFont typeface="Wingdings" panose="05000000000000000000" pitchFamily="2" charset="2"/>
              <a:buChar char="§"/>
            </a:pPr>
            <a:r>
              <a:rPr lang="en-US" dirty="0" err="1" smtClean="0">
                <a:solidFill>
                  <a:srgbClr val="212529"/>
                </a:solidFill>
                <a:latin typeface="Nunito"/>
              </a:rPr>
              <a:t>SoCs</a:t>
            </a:r>
            <a:r>
              <a:rPr lang="en-US" dirty="0" smtClean="0">
                <a:solidFill>
                  <a:srgbClr val="212529"/>
                </a:solidFill>
                <a:latin typeface="Nunito"/>
              </a:rPr>
              <a:t> </a:t>
            </a:r>
            <a:r>
              <a:rPr lang="en-US" dirty="0">
                <a:solidFill>
                  <a:srgbClr val="212529"/>
                </a:solidFill>
                <a:latin typeface="Nunito"/>
              </a:rPr>
              <a:t>are a key component of modern electronics and are found in a wide range of devices, including smartphones, laptops, tablets, and many other types of electronic devices. </a:t>
            </a:r>
            <a:endParaRPr lang="en-US" dirty="0" smtClean="0">
              <a:solidFill>
                <a:srgbClr val="212529"/>
              </a:solidFill>
              <a:latin typeface="Nunito"/>
            </a:endParaRPr>
          </a:p>
          <a:p>
            <a:pPr marL="285750" indent="-285750" algn="just">
              <a:buFont typeface="Wingdings" panose="05000000000000000000" pitchFamily="2" charset="2"/>
              <a:buChar char="§"/>
            </a:pPr>
            <a:endParaRPr lang="en-US" dirty="0" smtClean="0">
              <a:solidFill>
                <a:srgbClr val="212529"/>
              </a:solidFill>
              <a:latin typeface="Nunito"/>
            </a:endParaRPr>
          </a:p>
          <a:p>
            <a:pPr marL="285750" indent="-285750" algn="just">
              <a:buFont typeface="Wingdings" panose="05000000000000000000" pitchFamily="2" charset="2"/>
              <a:buChar char="§"/>
            </a:pPr>
            <a:r>
              <a:rPr lang="en-US" dirty="0" smtClean="0">
                <a:solidFill>
                  <a:srgbClr val="212529"/>
                </a:solidFill>
                <a:latin typeface="Nunito"/>
              </a:rPr>
              <a:t>They </a:t>
            </a:r>
            <a:r>
              <a:rPr lang="en-US" dirty="0">
                <a:solidFill>
                  <a:srgbClr val="212529"/>
                </a:solidFill>
                <a:latin typeface="Nunito"/>
              </a:rPr>
              <a:t>are used to integrate a variety of functions, including processing, memory, communication, and input/output (I/O) onto a single chip, which reduces the size, cost, and power consumption of the system</a:t>
            </a:r>
            <a:r>
              <a:rPr lang="en-US" dirty="0" smtClean="0">
                <a:solidFill>
                  <a:srgbClr val="212529"/>
                </a:solidFill>
                <a:latin typeface="Nunito"/>
              </a:rPr>
              <a:t>.</a:t>
            </a:r>
          </a:p>
          <a:p>
            <a:pPr marL="285750" indent="-285750" algn="just">
              <a:buFont typeface="Wingdings" panose="05000000000000000000" pitchFamily="2" charset="2"/>
              <a:buChar char="§"/>
            </a:pPr>
            <a:endParaRPr lang="en-US" dirty="0">
              <a:solidFill>
                <a:srgbClr val="212529"/>
              </a:solidFill>
              <a:latin typeface="Nunito"/>
            </a:endParaRPr>
          </a:p>
          <a:p>
            <a:pPr marL="285750" indent="-285750" algn="just">
              <a:buFont typeface="Wingdings" panose="05000000000000000000" pitchFamily="2" charset="2"/>
              <a:buChar char="§"/>
            </a:pPr>
            <a:r>
              <a:rPr lang="en-US" dirty="0">
                <a:solidFill>
                  <a:srgbClr val="212529"/>
                </a:solidFill>
                <a:latin typeface="Nunito"/>
              </a:rPr>
              <a:t>In VLSI design, </a:t>
            </a:r>
            <a:r>
              <a:rPr lang="en-US" dirty="0" err="1">
                <a:solidFill>
                  <a:srgbClr val="212529"/>
                </a:solidFill>
                <a:latin typeface="Nunito"/>
              </a:rPr>
              <a:t>SoCs</a:t>
            </a:r>
            <a:r>
              <a:rPr lang="en-US" dirty="0">
                <a:solidFill>
                  <a:srgbClr val="212529"/>
                </a:solidFill>
                <a:latin typeface="Nunito"/>
              </a:rPr>
              <a:t> are typically designed using a combination of hardware and software components, including processors, memory, I/O interfaces, and other peripherals. </a:t>
            </a:r>
            <a:endParaRPr lang="en-US" dirty="0" smtClean="0">
              <a:solidFill>
                <a:srgbClr val="212529"/>
              </a:solidFill>
              <a:latin typeface="Nunito"/>
            </a:endParaRPr>
          </a:p>
          <a:p>
            <a:pPr marL="285750" indent="-285750" algn="just">
              <a:buFont typeface="Wingdings" panose="05000000000000000000" pitchFamily="2" charset="2"/>
              <a:buChar char="§"/>
            </a:pPr>
            <a:endParaRPr lang="en-US" dirty="0" smtClean="0">
              <a:solidFill>
                <a:srgbClr val="212529"/>
              </a:solidFill>
              <a:latin typeface="Nunito"/>
            </a:endParaRPr>
          </a:p>
          <a:p>
            <a:pPr marL="285750" indent="-285750" algn="just">
              <a:buFont typeface="Wingdings" panose="05000000000000000000" pitchFamily="2" charset="2"/>
              <a:buChar char="§"/>
            </a:pPr>
            <a:r>
              <a:rPr lang="en-US" dirty="0" smtClean="0">
                <a:solidFill>
                  <a:srgbClr val="212529"/>
                </a:solidFill>
                <a:latin typeface="Nunito"/>
              </a:rPr>
              <a:t>These </a:t>
            </a:r>
            <a:r>
              <a:rPr lang="en-US" dirty="0">
                <a:solidFill>
                  <a:srgbClr val="212529"/>
                </a:solidFill>
                <a:latin typeface="Nunito"/>
              </a:rPr>
              <a:t>components are integrated onto a single chip using a combination of standard cell-based design and custom layout techniques.</a:t>
            </a:r>
            <a:endParaRPr lang="en-US" b="0" i="0" dirty="0">
              <a:solidFill>
                <a:srgbClr val="212529"/>
              </a:solidFill>
              <a:effectLst/>
              <a:latin typeface="Nunito"/>
            </a:endParaRPr>
          </a:p>
        </p:txBody>
      </p:sp>
    </p:spTree>
    <p:extLst>
      <p:ext uri="{BB962C8B-B14F-4D97-AF65-F5344CB8AC3E}">
        <p14:creationId xmlns:p14="http://schemas.microsoft.com/office/powerpoint/2010/main" val="3759715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11826" y="228601"/>
            <a:ext cx="10245437" cy="6442364"/>
          </a:xfrm>
          <a:prstGeom prst="rect">
            <a:avLst/>
          </a:prstGeom>
        </p:spPr>
      </p:pic>
    </p:spTree>
    <p:extLst>
      <p:ext uri="{BB962C8B-B14F-4D97-AF65-F5344CB8AC3E}">
        <p14:creationId xmlns:p14="http://schemas.microsoft.com/office/powerpoint/2010/main" val="3551990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4" y="353291"/>
            <a:ext cx="10515600" cy="374073"/>
          </a:xfrm>
        </p:spPr>
        <p:txBody>
          <a:bodyPr>
            <a:normAutofit fontScale="90000"/>
          </a:bodyPr>
          <a:lstStyle/>
          <a:p>
            <a:r>
              <a:rPr lang="en-US" dirty="0" smtClean="0"/>
              <a:t>System on Chip </a:t>
            </a:r>
            <a:endParaRPr lang="en-US" dirty="0"/>
          </a:p>
        </p:txBody>
      </p:sp>
      <p:sp>
        <p:nvSpPr>
          <p:cNvPr id="3" name="Text Placeholder 2"/>
          <p:cNvSpPr>
            <a:spLocks noGrp="1"/>
          </p:cNvSpPr>
          <p:nvPr>
            <p:ph type="body" idx="1"/>
          </p:nvPr>
        </p:nvSpPr>
        <p:spPr>
          <a:xfrm>
            <a:off x="839788" y="904009"/>
            <a:ext cx="5157787" cy="458066"/>
          </a:xfrm>
        </p:spPr>
        <p:txBody>
          <a:bodyPr/>
          <a:lstStyle/>
          <a:p>
            <a:r>
              <a:rPr lang="en-US" dirty="0" smtClean="0"/>
              <a:t>Electronic System </a:t>
            </a:r>
            <a:endParaRPr lang="en-US" dirty="0"/>
          </a:p>
        </p:txBody>
      </p:sp>
      <p:pic>
        <p:nvPicPr>
          <p:cNvPr id="7" name="Content Placeholder 6"/>
          <p:cNvPicPr>
            <a:picLocks noGrp="1" noChangeAspect="1"/>
          </p:cNvPicPr>
          <p:nvPr>
            <p:ph sz="half" idx="2"/>
          </p:nvPr>
        </p:nvPicPr>
        <p:blipFill>
          <a:blip r:embed="rId2"/>
          <a:stretch>
            <a:fillRect/>
          </a:stretch>
        </p:blipFill>
        <p:spPr>
          <a:xfrm>
            <a:off x="839788" y="1362075"/>
            <a:ext cx="5157787" cy="4765851"/>
          </a:xfrm>
          <a:prstGeom prst="rect">
            <a:avLst/>
          </a:prstGeom>
        </p:spPr>
      </p:pic>
      <p:sp>
        <p:nvSpPr>
          <p:cNvPr id="5" name="Text Placeholder 4"/>
          <p:cNvSpPr>
            <a:spLocks noGrp="1"/>
          </p:cNvSpPr>
          <p:nvPr>
            <p:ph type="body" sz="quarter" idx="3"/>
          </p:nvPr>
        </p:nvSpPr>
        <p:spPr>
          <a:xfrm>
            <a:off x="6172200" y="538163"/>
            <a:ext cx="5183188" cy="823912"/>
          </a:xfrm>
        </p:spPr>
        <p:txBody>
          <a:bodyPr/>
          <a:lstStyle/>
          <a:p>
            <a:r>
              <a:rPr lang="en-US" dirty="0" smtClean="0"/>
              <a:t>Electronic System &amp; </a:t>
            </a:r>
            <a:r>
              <a:rPr lang="en-US" dirty="0" err="1" smtClean="0"/>
              <a:t>SoC</a:t>
            </a:r>
            <a:endParaRPr lang="en-US" dirty="0"/>
          </a:p>
        </p:txBody>
      </p:sp>
      <p:pic>
        <p:nvPicPr>
          <p:cNvPr id="8" name="Content Placeholder 7"/>
          <p:cNvPicPr>
            <a:picLocks noGrp="1" noChangeAspect="1"/>
          </p:cNvPicPr>
          <p:nvPr>
            <p:ph sz="quarter" idx="4"/>
          </p:nvPr>
        </p:nvPicPr>
        <p:blipFill>
          <a:blip r:embed="rId3"/>
          <a:stretch>
            <a:fillRect/>
          </a:stretch>
        </p:blipFill>
        <p:spPr>
          <a:xfrm>
            <a:off x="6172200" y="1546947"/>
            <a:ext cx="5183188" cy="4588785"/>
          </a:xfrm>
          <a:prstGeom prst="rect">
            <a:avLst/>
          </a:prstGeom>
        </p:spPr>
      </p:pic>
    </p:spTree>
    <p:extLst>
      <p:ext uri="{BB962C8B-B14F-4D97-AF65-F5344CB8AC3E}">
        <p14:creationId xmlns:p14="http://schemas.microsoft.com/office/powerpoint/2010/main" val="4230208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381" y="685801"/>
            <a:ext cx="11440391" cy="5355312"/>
          </a:xfrm>
          <a:prstGeom prst="rect">
            <a:avLst/>
          </a:prstGeom>
        </p:spPr>
        <p:txBody>
          <a:bodyPr wrap="square">
            <a:spAutoFit/>
          </a:bodyPr>
          <a:lstStyle/>
          <a:p>
            <a:r>
              <a:rPr lang="en-US" b="1" dirty="0">
                <a:solidFill>
                  <a:srgbClr val="212529"/>
                </a:solidFill>
                <a:latin typeface="Be Vietnam Pro"/>
              </a:rPr>
              <a:t>IP </a:t>
            </a:r>
            <a:r>
              <a:rPr lang="en-US" b="1" dirty="0" smtClean="0">
                <a:solidFill>
                  <a:srgbClr val="212529"/>
                </a:solidFill>
                <a:latin typeface="Be Vietnam Pro"/>
              </a:rPr>
              <a:t>Verification</a:t>
            </a:r>
          </a:p>
          <a:p>
            <a:endParaRPr lang="en-US" b="1" dirty="0" smtClean="0">
              <a:solidFill>
                <a:srgbClr val="212529"/>
              </a:solidFill>
              <a:latin typeface="Be Vietnam Pro"/>
            </a:endParaRPr>
          </a:p>
          <a:p>
            <a:pPr marL="285750" indent="-285750" algn="just">
              <a:buFont typeface="Arial" panose="020B0604020202020204" pitchFamily="34" charset="0"/>
              <a:buChar char="•"/>
            </a:pPr>
            <a:r>
              <a:rPr lang="en-US" dirty="0" smtClean="0">
                <a:solidFill>
                  <a:srgbClr val="212529"/>
                </a:solidFill>
                <a:latin typeface="Nunito"/>
              </a:rPr>
              <a:t>IPs </a:t>
            </a:r>
            <a:r>
              <a:rPr lang="en-US" dirty="0">
                <a:solidFill>
                  <a:srgbClr val="212529"/>
                </a:solidFill>
                <a:latin typeface="Nunito"/>
              </a:rPr>
              <a:t>are the fundamental building blocks for any </a:t>
            </a:r>
            <a:r>
              <a:rPr lang="en-US" dirty="0" err="1">
                <a:solidFill>
                  <a:srgbClr val="212529"/>
                </a:solidFill>
                <a:latin typeface="Nunito"/>
              </a:rPr>
              <a:t>SoC.</a:t>
            </a:r>
            <a:r>
              <a:rPr lang="en-US" dirty="0">
                <a:solidFill>
                  <a:srgbClr val="212529"/>
                </a:solidFill>
                <a:latin typeface="Nunito"/>
              </a:rPr>
              <a:t> So IP verification demands exhaustive white-box verification that demands methodologies like formal verification and random simulation, especially for the processor IPs as everything is initiated and driven by them as a central component in any </a:t>
            </a:r>
            <a:r>
              <a:rPr lang="en-US" dirty="0" err="1">
                <a:solidFill>
                  <a:srgbClr val="212529"/>
                </a:solidFill>
                <a:latin typeface="Nunito"/>
              </a:rPr>
              <a:t>SoCs</a:t>
            </a:r>
            <a:r>
              <a:rPr lang="en-US" dirty="0" smtClean="0">
                <a:solidFill>
                  <a:srgbClr val="212529"/>
                </a:solidFill>
                <a:latin typeface="Nunito"/>
              </a:rPr>
              <a:t>.</a:t>
            </a: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 </a:t>
            </a:r>
            <a:r>
              <a:rPr lang="en-US" dirty="0">
                <a:solidFill>
                  <a:srgbClr val="212529"/>
                </a:solidFill>
                <a:latin typeface="Nunito"/>
              </a:rPr>
              <a:t>Figure  </a:t>
            </a:r>
            <a:r>
              <a:rPr lang="en-US" dirty="0" smtClean="0">
                <a:solidFill>
                  <a:srgbClr val="212529"/>
                </a:solidFill>
                <a:latin typeface="Nunito"/>
              </a:rPr>
              <a:t>shows </a:t>
            </a:r>
            <a:r>
              <a:rPr lang="en-US" dirty="0">
                <a:solidFill>
                  <a:srgbClr val="212529"/>
                </a:solidFill>
                <a:latin typeface="Nunito"/>
              </a:rPr>
              <a:t>how we verify a processor IP using an exhaustive random simulation by a </a:t>
            </a:r>
            <a:r>
              <a:rPr lang="en-US" dirty="0" err="1">
                <a:solidFill>
                  <a:srgbClr val="212529"/>
                </a:solidFill>
                <a:latin typeface="Nunito"/>
              </a:rPr>
              <a:t>SystemVerilog</a:t>
            </a:r>
            <a:r>
              <a:rPr lang="en-US" dirty="0">
                <a:solidFill>
                  <a:srgbClr val="212529"/>
                </a:solidFill>
                <a:latin typeface="Nunito"/>
              </a:rPr>
              <a:t>-based UVM TB. </a:t>
            </a:r>
            <a:endParaRPr lang="en-US" dirty="0" smtClean="0">
              <a:solidFill>
                <a:srgbClr val="212529"/>
              </a:solidFill>
              <a:latin typeface="Nunito"/>
            </a:endParaRP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All </a:t>
            </a:r>
            <a:r>
              <a:rPr lang="en-US" dirty="0">
                <a:solidFill>
                  <a:srgbClr val="212529"/>
                </a:solidFill>
                <a:latin typeface="Nunito"/>
              </a:rPr>
              <a:t>the processor instructions can be simulated with various random values, generating </a:t>
            </a:r>
            <a:r>
              <a:rPr lang="en-US" u="sng" dirty="0">
                <a:solidFill>
                  <a:srgbClr val="0D6EFD"/>
                </a:solidFill>
                <a:latin typeface="Nunito"/>
                <a:hlinkClick r:id="rId2"/>
              </a:rPr>
              <a:t>functional</a:t>
            </a:r>
            <a:r>
              <a:rPr lang="en-US" dirty="0">
                <a:solidFill>
                  <a:srgbClr val="212529"/>
                </a:solidFill>
                <a:latin typeface="Nunito"/>
              </a:rPr>
              <a:t>, assertion, and </a:t>
            </a:r>
            <a:r>
              <a:rPr lang="en-US" u="sng" dirty="0">
                <a:solidFill>
                  <a:srgbClr val="0D6EFD"/>
                </a:solidFill>
                <a:latin typeface="Nunito"/>
                <a:hlinkClick r:id="rId3"/>
              </a:rPr>
              <a:t>code coverage</a:t>
            </a:r>
            <a:r>
              <a:rPr lang="en-US" dirty="0">
                <a:solidFill>
                  <a:srgbClr val="212529"/>
                </a:solidFill>
                <a:latin typeface="Nunito"/>
              </a:rPr>
              <a:t>. </a:t>
            </a:r>
            <a:endParaRPr lang="en-US" dirty="0" smtClean="0">
              <a:solidFill>
                <a:srgbClr val="212529"/>
              </a:solidFill>
              <a:latin typeface="Nunito"/>
            </a:endParaRP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We </a:t>
            </a:r>
            <a:r>
              <a:rPr lang="en-US" dirty="0">
                <a:solidFill>
                  <a:srgbClr val="212529"/>
                </a:solidFill>
                <a:latin typeface="Nunito"/>
              </a:rPr>
              <a:t>use coverage to measure the progress and quality of the verification and then for the final verification sign-off. </a:t>
            </a:r>
            <a:endParaRPr lang="en-US" dirty="0" smtClean="0">
              <a:solidFill>
                <a:srgbClr val="212529"/>
              </a:solidFill>
              <a:latin typeface="Nunito"/>
            </a:endParaRP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IP </a:t>
            </a:r>
            <a:r>
              <a:rPr lang="en-US" dirty="0">
                <a:solidFill>
                  <a:srgbClr val="212529"/>
                </a:solidFill>
                <a:latin typeface="Nunito"/>
              </a:rPr>
              <a:t>level verification demands good expertise in HVL programming, </a:t>
            </a:r>
            <a:r>
              <a:rPr lang="en-US" u="sng" dirty="0">
                <a:solidFill>
                  <a:srgbClr val="0D6EFD"/>
                </a:solidFill>
                <a:latin typeface="Nunito"/>
                <a:hlinkClick r:id="rId4"/>
              </a:rPr>
              <a:t>Formal and Dynamic ABV</a:t>
            </a:r>
            <a:r>
              <a:rPr lang="en-US" dirty="0">
                <a:solidFill>
                  <a:srgbClr val="212529"/>
                </a:solidFill>
                <a:latin typeface="Nunito"/>
              </a:rPr>
              <a:t>, Simulation debugging, and using VIPs and EDA tools</a:t>
            </a:r>
            <a:r>
              <a:rPr lang="en-US" dirty="0" smtClean="0">
                <a:solidFill>
                  <a:srgbClr val="212529"/>
                </a:solidFill>
                <a:latin typeface="Nunito"/>
              </a:rPr>
              <a:t>.</a:t>
            </a:r>
          </a:p>
          <a:p>
            <a:pPr algn="just"/>
            <a:endParaRPr lang="en-US" dirty="0" smtClean="0">
              <a:solidFill>
                <a:srgbClr val="212529"/>
              </a:solidFill>
              <a:latin typeface="Nunito"/>
            </a:endParaRPr>
          </a:p>
          <a:p>
            <a:endParaRPr lang="en-US" b="0" i="0" dirty="0">
              <a:solidFill>
                <a:srgbClr val="212529"/>
              </a:solidFill>
              <a:effectLst/>
              <a:latin typeface="Nunito"/>
            </a:endParaRPr>
          </a:p>
        </p:txBody>
      </p:sp>
    </p:spTree>
    <p:extLst>
      <p:ext uri="{BB962C8B-B14F-4D97-AF65-F5344CB8AC3E}">
        <p14:creationId xmlns:p14="http://schemas.microsoft.com/office/powerpoint/2010/main" val="2698991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0717" y="1125279"/>
            <a:ext cx="10287001" cy="4801314"/>
          </a:xfrm>
          <a:prstGeom prst="rect">
            <a:avLst/>
          </a:prstGeom>
        </p:spPr>
        <p:txBody>
          <a:bodyPr wrap="square">
            <a:spAutoFit/>
          </a:bodyPr>
          <a:lstStyle/>
          <a:p>
            <a:r>
              <a:rPr lang="en-US" b="1" dirty="0">
                <a:latin typeface="Nunito "/>
              </a:rPr>
              <a:t>Sub-System </a:t>
            </a:r>
            <a:r>
              <a:rPr lang="en-US" b="1" dirty="0" smtClean="0">
                <a:latin typeface="Nunito "/>
              </a:rPr>
              <a:t>Verification</a:t>
            </a:r>
          </a:p>
          <a:p>
            <a:endParaRPr lang="en-US" b="1" dirty="0">
              <a:latin typeface="Nunito "/>
            </a:endParaRPr>
          </a:p>
          <a:p>
            <a:pPr marL="285750" indent="-285750" algn="just">
              <a:buFont typeface="Arial" panose="020B0604020202020204" pitchFamily="34" charset="0"/>
              <a:buChar char="•"/>
            </a:pPr>
            <a:r>
              <a:rPr lang="en-US" dirty="0">
                <a:latin typeface="Nunito "/>
              </a:rPr>
              <a:t>Sub-systems are composed of mostly pre-verified IPs and some newly built IPs like bridges and system controllers that are specific to the chip. </a:t>
            </a:r>
            <a:endParaRPr lang="en-US" dirty="0" smtClean="0">
              <a:latin typeface="Nunito "/>
            </a:endParaRPr>
          </a:p>
          <a:p>
            <a:pPr marL="285750" indent="-285750" algn="just">
              <a:buFont typeface="Arial" panose="020B0604020202020204" pitchFamily="34" charset="0"/>
              <a:buChar char="•"/>
            </a:pPr>
            <a:endParaRPr lang="en-US" dirty="0" smtClean="0">
              <a:latin typeface="Nunito "/>
            </a:endParaRPr>
          </a:p>
          <a:p>
            <a:pPr marL="285750" indent="-285750" algn="just">
              <a:buFont typeface="Arial" panose="020B0604020202020204" pitchFamily="34" charset="0"/>
              <a:buChar char="•"/>
            </a:pPr>
            <a:r>
              <a:rPr lang="en-US" dirty="0" smtClean="0">
                <a:latin typeface="Nunito "/>
              </a:rPr>
              <a:t>Figure 2  </a:t>
            </a:r>
            <a:r>
              <a:rPr lang="en-US" dirty="0">
                <a:latin typeface="Nunito "/>
              </a:rPr>
              <a:t>shows how we build an </a:t>
            </a:r>
            <a:r>
              <a:rPr lang="en-US" dirty="0" err="1">
                <a:latin typeface="Nunito "/>
              </a:rPr>
              <a:t>SoC</a:t>
            </a:r>
            <a:r>
              <a:rPr lang="en-US" dirty="0">
                <a:latin typeface="Nunito "/>
              </a:rPr>
              <a:t> from a sub-system that integrates all the necessary interface IPs, bridges, and system controllers using an on-chip bus like AMBA. </a:t>
            </a:r>
            <a:endParaRPr lang="en-US" dirty="0" smtClean="0">
              <a:latin typeface="Nunito "/>
            </a:endParaRPr>
          </a:p>
          <a:p>
            <a:pPr marL="285750" indent="-285750" algn="just">
              <a:buFont typeface="Arial" panose="020B0604020202020204" pitchFamily="34" charset="0"/>
              <a:buChar char="•"/>
            </a:pPr>
            <a:endParaRPr lang="en-US" dirty="0" smtClean="0">
              <a:latin typeface="Nunito "/>
            </a:endParaRPr>
          </a:p>
          <a:p>
            <a:pPr marL="285750" indent="-285750" algn="just">
              <a:buFont typeface="Arial" panose="020B0604020202020204" pitchFamily="34" charset="0"/>
              <a:buChar char="•"/>
            </a:pPr>
            <a:r>
              <a:rPr lang="en-US" dirty="0" smtClean="0">
                <a:latin typeface="Nunito "/>
              </a:rPr>
              <a:t>In </a:t>
            </a:r>
            <a:r>
              <a:rPr lang="en-US" dirty="0">
                <a:latin typeface="Nunito "/>
              </a:rPr>
              <a:t>this case, we prefer simulation-based Gray-box verification, especially random simulation using verification IPs. All the </a:t>
            </a:r>
            <a:r>
              <a:rPr lang="en-US" u="sng" dirty="0">
                <a:latin typeface="Nunito "/>
                <a:hlinkClick r:id="rId2"/>
              </a:rPr>
              <a:t>VIP</a:t>
            </a:r>
            <a:r>
              <a:rPr lang="en-US" dirty="0">
                <a:latin typeface="Nunito "/>
              </a:rPr>
              <a:t>s like AXI, AHB, APB, GPIO, UART, SPI, and I2C UVCs [UVM Verification Component] will be configured and connected with the respective interfaces. </a:t>
            </a:r>
            <a:endParaRPr lang="en-US" dirty="0" smtClean="0">
              <a:latin typeface="Nunito "/>
            </a:endParaRPr>
          </a:p>
          <a:p>
            <a:pPr marL="285750" indent="-285750" algn="just">
              <a:buFont typeface="Arial" panose="020B0604020202020204" pitchFamily="34" charset="0"/>
              <a:buChar char="•"/>
            </a:pPr>
            <a:endParaRPr lang="en-US" dirty="0">
              <a:latin typeface="Nunito "/>
            </a:endParaRPr>
          </a:p>
          <a:p>
            <a:pPr marL="285750" indent="-285750" algn="just">
              <a:buFont typeface="Arial" panose="020B0604020202020204" pitchFamily="34" charset="0"/>
              <a:buChar char="•"/>
            </a:pPr>
            <a:r>
              <a:rPr lang="en-US" dirty="0" smtClean="0">
                <a:latin typeface="Nunito "/>
              </a:rPr>
              <a:t>As </a:t>
            </a:r>
            <a:r>
              <a:rPr lang="en-US" dirty="0">
                <a:latin typeface="Nunito "/>
              </a:rPr>
              <a:t>shown in the </a:t>
            </a:r>
            <a:r>
              <a:rPr lang="en-US" dirty="0" smtClean="0">
                <a:latin typeface="Nunito "/>
              </a:rPr>
              <a:t>figure-2 , </a:t>
            </a:r>
            <a:r>
              <a:rPr lang="en-US" dirty="0">
                <a:latin typeface="Nunito "/>
              </a:rPr>
              <a:t>we create other TB components like reference models, scoreboards, and UVM RAL for making the verification environment self-checking. </a:t>
            </a:r>
            <a:endParaRPr lang="en-US" dirty="0" smtClean="0">
              <a:latin typeface="Nunito "/>
            </a:endParaRPr>
          </a:p>
          <a:p>
            <a:pPr marL="285750" indent="-285750" algn="just">
              <a:buFont typeface="Arial" panose="020B0604020202020204" pitchFamily="34" charset="0"/>
              <a:buChar char="•"/>
            </a:pPr>
            <a:endParaRPr lang="en-US" dirty="0">
              <a:latin typeface="Nunito "/>
            </a:endParaRPr>
          </a:p>
          <a:p>
            <a:pPr marL="285750" indent="-285750" algn="just">
              <a:buFont typeface="Arial" panose="020B0604020202020204" pitchFamily="34" charset="0"/>
              <a:buChar char="•"/>
            </a:pPr>
            <a:r>
              <a:rPr lang="en-US" dirty="0" smtClean="0">
                <a:latin typeface="Nunito "/>
              </a:rPr>
              <a:t>We </a:t>
            </a:r>
            <a:r>
              <a:rPr lang="en-US" dirty="0">
                <a:latin typeface="Nunito "/>
              </a:rPr>
              <a:t>execute various VIP UVM sequences at the top level, verify the data flow, and measure the performance of the bus.</a:t>
            </a:r>
            <a:endParaRPr lang="en-US" dirty="0">
              <a:latin typeface="Nunito "/>
            </a:endParaRPr>
          </a:p>
        </p:txBody>
      </p:sp>
    </p:spTree>
    <p:extLst>
      <p:ext uri="{BB962C8B-B14F-4D97-AF65-F5344CB8AC3E}">
        <p14:creationId xmlns:p14="http://schemas.microsoft.com/office/powerpoint/2010/main" val="2521644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r>
              <a:rPr lang="en-US" dirty="0" smtClean="0"/>
              <a:t>IP Verification  Figure 1</a:t>
            </a:r>
            <a:endParaRPr lang="en-US" dirty="0"/>
          </a:p>
        </p:txBody>
      </p:sp>
      <p:pic>
        <p:nvPicPr>
          <p:cNvPr id="7" name="Content Placeholder 6"/>
          <p:cNvPicPr>
            <a:picLocks noGrp="1" noChangeAspect="1"/>
          </p:cNvPicPr>
          <p:nvPr>
            <p:ph sz="half" idx="2"/>
          </p:nvPr>
        </p:nvPicPr>
        <p:blipFill>
          <a:blip r:embed="rId2"/>
          <a:stretch>
            <a:fillRect/>
          </a:stretch>
        </p:blipFill>
        <p:spPr>
          <a:xfrm>
            <a:off x="861219" y="2799556"/>
            <a:ext cx="5114925" cy="3095625"/>
          </a:xfrm>
          <a:prstGeom prst="rect">
            <a:avLst/>
          </a:prstGeom>
        </p:spPr>
      </p:pic>
      <p:sp>
        <p:nvSpPr>
          <p:cNvPr id="5" name="Text Placeholder 4"/>
          <p:cNvSpPr>
            <a:spLocks noGrp="1"/>
          </p:cNvSpPr>
          <p:nvPr>
            <p:ph type="body" sz="quarter" idx="3"/>
          </p:nvPr>
        </p:nvSpPr>
        <p:spPr/>
        <p:txBody>
          <a:bodyPr/>
          <a:lstStyle/>
          <a:p>
            <a:r>
              <a:rPr lang="en-US" dirty="0" smtClean="0"/>
              <a:t>Sub system Verification Figure 2 </a:t>
            </a:r>
            <a:endParaRPr lang="en-US" dirty="0"/>
          </a:p>
        </p:txBody>
      </p:sp>
      <p:pic>
        <p:nvPicPr>
          <p:cNvPr id="8" name="Content Placeholder 7"/>
          <p:cNvPicPr>
            <a:picLocks noGrp="1" noChangeAspect="1"/>
          </p:cNvPicPr>
          <p:nvPr>
            <p:ph sz="quarter" idx="4"/>
          </p:nvPr>
        </p:nvPicPr>
        <p:blipFill>
          <a:blip r:embed="rId3"/>
          <a:stretch>
            <a:fillRect/>
          </a:stretch>
        </p:blipFill>
        <p:spPr>
          <a:xfrm>
            <a:off x="6172200" y="2717700"/>
            <a:ext cx="5183188" cy="3259338"/>
          </a:xfrm>
          <a:prstGeom prst="rect">
            <a:avLst/>
          </a:prstGeom>
        </p:spPr>
      </p:pic>
    </p:spTree>
    <p:extLst>
      <p:ext uri="{BB962C8B-B14F-4D97-AF65-F5344CB8AC3E}">
        <p14:creationId xmlns:p14="http://schemas.microsoft.com/office/powerpoint/2010/main" val="2284517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4565" y="751344"/>
            <a:ext cx="9871362" cy="4801314"/>
          </a:xfrm>
          <a:prstGeom prst="rect">
            <a:avLst/>
          </a:prstGeom>
        </p:spPr>
        <p:txBody>
          <a:bodyPr wrap="square">
            <a:spAutoFit/>
          </a:bodyPr>
          <a:lstStyle/>
          <a:p>
            <a:r>
              <a:rPr lang="en-US" b="1" dirty="0" err="1">
                <a:solidFill>
                  <a:srgbClr val="212529"/>
                </a:solidFill>
                <a:latin typeface="Be Vietnam Pro"/>
              </a:rPr>
              <a:t>SoC</a:t>
            </a:r>
            <a:r>
              <a:rPr lang="en-US" b="1" dirty="0">
                <a:solidFill>
                  <a:srgbClr val="212529"/>
                </a:solidFill>
                <a:latin typeface="Be Vietnam Pro"/>
              </a:rPr>
              <a:t> Verification</a:t>
            </a:r>
          </a:p>
          <a:p>
            <a:endParaRPr lang="en-US" dirty="0" smtClean="0">
              <a:solidFill>
                <a:srgbClr val="212529"/>
              </a:solidFill>
              <a:latin typeface="Nunito"/>
            </a:endParaRPr>
          </a:p>
          <a:p>
            <a:pPr marL="285750" indent="-285750" algn="just">
              <a:buFont typeface="Arial" panose="020B0604020202020204" pitchFamily="34" charset="0"/>
              <a:buChar char="•"/>
            </a:pPr>
            <a:r>
              <a:rPr lang="en-US" dirty="0" err="1" smtClean="0">
                <a:solidFill>
                  <a:srgbClr val="212529"/>
                </a:solidFill>
                <a:latin typeface="Nunito"/>
              </a:rPr>
              <a:t>SoCs</a:t>
            </a:r>
            <a:r>
              <a:rPr lang="en-US" dirty="0" smtClean="0">
                <a:solidFill>
                  <a:srgbClr val="212529"/>
                </a:solidFill>
                <a:latin typeface="Nunito"/>
              </a:rPr>
              <a:t> are composed of primarily pre-verified third-party IPs and some in-house IPs. </a:t>
            </a: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Usually, we prefer a black-box verification using hardware emulation or simulation technologies for the </a:t>
            </a:r>
            <a:r>
              <a:rPr lang="en-US" dirty="0" err="1" smtClean="0">
                <a:solidFill>
                  <a:srgbClr val="212529"/>
                </a:solidFill>
                <a:latin typeface="Nunito"/>
              </a:rPr>
              <a:t>SoC</a:t>
            </a:r>
            <a:r>
              <a:rPr lang="en-US" dirty="0" smtClean="0">
                <a:solidFill>
                  <a:srgbClr val="212529"/>
                </a:solidFill>
                <a:latin typeface="Nunito"/>
              </a:rPr>
              <a:t> level verification. For example, you may come across a complex </a:t>
            </a:r>
            <a:r>
              <a:rPr lang="en-US" dirty="0" err="1" smtClean="0">
                <a:solidFill>
                  <a:srgbClr val="212529"/>
                </a:solidFill>
                <a:latin typeface="Nunito"/>
              </a:rPr>
              <a:t>SoC</a:t>
            </a:r>
            <a:r>
              <a:rPr lang="en-US" dirty="0" smtClean="0">
                <a:solidFill>
                  <a:srgbClr val="212529"/>
                </a:solidFill>
                <a:latin typeface="Nunito"/>
              </a:rPr>
              <a:t> verification environment, as shown in figure 3 . </a:t>
            </a: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The </a:t>
            </a:r>
            <a:r>
              <a:rPr lang="en-US" dirty="0" err="1" smtClean="0">
                <a:solidFill>
                  <a:srgbClr val="212529"/>
                </a:solidFill>
                <a:latin typeface="Nunito"/>
              </a:rPr>
              <a:t>SoC</a:t>
            </a:r>
            <a:r>
              <a:rPr lang="en-US" dirty="0" smtClean="0">
                <a:solidFill>
                  <a:srgbClr val="212529"/>
                </a:solidFill>
                <a:latin typeface="Nunito"/>
              </a:rPr>
              <a:t> </a:t>
            </a:r>
            <a:r>
              <a:rPr lang="en-US" dirty="0" err="1" smtClean="0">
                <a:solidFill>
                  <a:srgbClr val="212529"/>
                </a:solidFill>
                <a:latin typeface="Nunito"/>
              </a:rPr>
              <a:t>testbench</a:t>
            </a:r>
            <a:r>
              <a:rPr lang="en-US" dirty="0" smtClean="0">
                <a:solidFill>
                  <a:srgbClr val="212529"/>
                </a:solidFill>
                <a:latin typeface="Nunito"/>
              </a:rPr>
              <a:t> [TB] will have all kinds of </a:t>
            </a:r>
            <a:r>
              <a:rPr lang="en-US" dirty="0" err="1" smtClean="0">
                <a:solidFill>
                  <a:srgbClr val="212529"/>
                </a:solidFill>
                <a:latin typeface="Nunito"/>
              </a:rPr>
              <a:t>testbench</a:t>
            </a:r>
            <a:r>
              <a:rPr lang="en-US" dirty="0" smtClean="0">
                <a:solidFill>
                  <a:srgbClr val="212529"/>
                </a:solidFill>
                <a:latin typeface="Nunito"/>
              </a:rPr>
              <a:t> components like standard UVM Verification IPs[USB/Bluetooth/</a:t>
            </a:r>
            <a:r>
              <a:rPr lang="en-US" dirty="0" err="1" smtClean="0">
                <a:solidFill>
                  <a:srgbClr val="212529"/>
                </a:solidFill>
                <a:latin typeface="Nunito"/>
              </a:rPr>
              <a:t>WiFi</a:t>
            </a:r>
            <a:r>
              <a:rPr lang="en-US" dirty="0" smtClean="0">
                <a:solidFill>
                  <a:srgbClr val="212529"/>
                </a:solidFill>
                <a:latin typeface="Nunito"/>
              </a:rPr>
              <a:t> and standard interfaces], legacy HDL TB components [JTAG Agent] with UVM wrappers, custom UVM agents[Firmware agents], and some monitors, in addition to the scoreboard and </a:t>
            </a:r>
            <a:r>
              <a:rPr lang="en-US" dirty="0" err="1" smtClean="0">
                <a:solidFill>
                  <a:srgbClr val="212529"/>
                </a:solidFill>
                <a:latin typeface="Nunito"/>
              </a:rPr>
              <a:t>SystemC</a:t>
            </a:r>
            <a:r>
              <a:rPr lang="en-US" dirty="0" smtClean="0">
                <a:solidFill>
                  <a:srgbClr val="212529"/>
                </a:solidFill>
                <a:latin typeface="Nunito"/>
              </a:rPr>
              <a:t>/C/C++ functional models. In this case, you will have to deal with both firmware and UVM sequences at the chip level. </a:t>
            </a:r>
          </a:p>
          <a:p>
            <a:pPr marL="285750" indent="-285750" algn="just">
              <a:buFont typeface="Arial" panose="020B0604020202020204" pitchFamily="34" charset="0"/>
              <a:buChar char="•"/>
            </a:pPr>
            <a:endParaRPr lang="en-US" dirty="0" smtClean="0">
              <a:solidFill>
                <a:srgbClr val="212529"/>
              </a:solidFill>
              <a:latin typeface="Nunito"/>
            </a:endParaRPr>
          </a:p>
          <a:p>
            <a:pPr marL="285750" indent="-285750" algn="just">
              <a:buFont typeface="Arial" panose="020B0604020202020204" pitchFamily="34" charset="0"/>
              <a:buChar char="•"/>
            </a:pPr>
            <a:r>
              <a:rPr lang="en-US" dirty="0" smtClean="0">
                <a:solidFill>
                  <a:srgbClr val="212529"/>
                </a:solidFill>
                <a:latin typeface="Nunito"/>
              </a:rPr>
              <a:t>As a verification engineer, you need to know how to implement this kind of hybrid verification environment using the standard VIPs, legacy HDL BFMs and firmware code, and more importantly, how to automate the simulation/emulation using EDA tools.</a:t>
            </a:r>
            <a:endParaRPr lang="en-US" b="0" i="0" dirty="0">
              <a:solidFill>
                <a:srgbClr val="212529"/>
              </a:solidFill>
              <a:effectLst/>
              <a:latin typeface="Nunito"/>
            </a:endParaRPr>
          </a:p>
        </p:txBody>
      </p:sp>
    </p:spTree>
    <p:extLst>
      <p:ext uri="{BB962C8B-B14F-4D97-AF65-F5344CB8AC3E}">
        <p14:creationId xmlns:p14="http://schemas.microsoft.com/office/powerpoint/2010/main" val="1688700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SoC</a:t>
            </a:r>
            <a:r>
              <a:rPr lang="en-US" dirty="0" smtClean="0"/>
              <a:t> Verification </a:t>
            </a:r>
            <a:endParaRPr lang="en-US" dirty="0"/>
          </a:p>
        </p:txBody>
      </p:sp>
      <p:pic>
        <p:nvPicPr>
          <p:cNvPr id="4" name="Content Placeholder 3"/>
          <p:cNvPicPr>
            <a:picLocks noGrp="1" noChangeAspect="1"/>
          </p:cNvPicPr>
          <p:nvPr>
            <p:ph idx="1"/>
          </p:nvPr>
        </p:nvPicPr>
        <p:blipFill>
          <a:blip r:embed="rId2"/>
          <a:stretch>
            <a:fillRect/>
          </a:stretch>
        </p:blipFill>
        <p:spPr>
          <a:xfrm>
            <a:off x="1226128" y="1403999"/>
            <a:ext cx="8873836" cy="4518819"/>
          </a:xfrm>
          <a:prstGeom prst="rect">
            <a:avLst/>
          </a:prstGeom>
        </p:spPr>
      </p:pic>
    </p:spTree>
    <p:extLst>
      <p:ext uri="{BB962C8B-B14F-4D97-AF65-F5344CB8AC3E}">
        <p14:creationId xmlns:p14="http://schemas.microsoft.com/office/powerpoint/2010/main" val="882856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5680"/>
            <a:ext cx="10515600" cy="767484"/>
          </a:xfrm>
        </p:spPr>
        <p:txBody>
          <a:bodyPr>
            <a:normAutofit fontScale="90000"/>
          </a:bodyPr>
          <a:lstStyle/>
          <a:p>
            <a:r>
              <a:rPr lang="en-US" dirty="0" smtClean="0"/>
              <a:t/>
            </a:r>
            <a:br>
              <a:rPr lang="en-US" dirty="0" smtClean="0"/>
            </a:br>
            <a:r>
              <a:rPr lang="en-US" dirty="0" err="1" smtClean="0"/>
              <a:t>SoC</a:t>
            </a:r>
            <a:r>
              <a:rPr lang="en-US" dirty="0" smtClean="0"/>
              <a:t> Advantages:</a:t>
            </a:r>
            <a:br>
              <a:rPr lang="en-US" dirty="0" smtClean="0"/>
            </a:br>
            <a:endParaRPr lang="en-US" dirty="0"/>
          </a:p>
        </p:txBody>
      </p:sp>
      <p:sp>
        <p:nvSpPr>
          <p:cNvPr id="3" name="Content Placeholder 2"/>
          <p:cNvSpPr>
            <a:spLocks noGrp="1"/>
          </p:cNvSpPr>
          <p:nvPr>
            <p:ph idx="1"/>
          </p:nvPr>
        </p:nvSpPr>
        <p:spPr/>
        <p:txBody>
          <a:bodyPr/>
          <a:lstStyle/>
          <a:p>
            <a:r>
              <a:rPr lang="en-US" b="1" dirty="0"/>
              <a:t>Compact size</a:t>
            </a:r>
          </a:p>
          <a:p>
            <a:r>
              <a:rPr lang="en-US" b="1" dirty="0"/>
              <a:t>Low power consumption</a:t>
            </a:r>
          </a:p>
          <a:p>
            <a:r>
              <a:rPr lang="en-US" b="1" dirty="0"/>
              <a:t>Cost-effectiveness</a:t>
            </a:r>
          </a:p>
          <a:p>
            <a:r>
              <a:rPr lang="en-US" b="1" dirty="0"/>
              <a:t>Improved performance</a:t>
            </a:r>
          </a:p>
          <a:p>
            <a:r>
              <a:rPr lang="en-US" b="1" dirty="0"/>
              <a:t>Flexibility</a:t>
            </a:r>
          </a:p>
          <a:p>
            <a:r>
              <a:rPr lang="en-US" b="1" dirty="0" smtClean="0"/>
              <a:t>Reliability</a:t>
            </a:r>
          </a:p>
          <a:p>
            <a:r>
              <a:rPr lang="en-US" b="1" dirty="0"/>
              <a:t>Integration of advanced features</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3594764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52356" y="426028"/>
            <a:ext cx="6057900" cy="5881253"/>
          </a:xfrm>
          <a:prstGeom prst="rect">
            <a:avLst/>
          </a:prstGeom>
        </p:spPr>
      </p:pic>
    </p:spTree>
    <p:extLst>
      <p:ext uri="{BB962C8B-B14F-4D97-AF65-F5344CB8AC3E}">
        <p14:creationId xmlns:p14="http://schemas.microsoft.com/office/powerpoint/2010/main" val="34201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TotalTime>
  <Words>1394</Words>
  <Application>Microsoft Office PowerPoint</Application>
  <PresentationFormat>Widescreen</PresentationFormat>
  <Paragraphs>140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Be Vietnam Pro</vt:lpstr>
      <vt:lpstr>Calibri</vt:lpstr>
      <vt:lpstr>Calibri Light</vt:lpstr>
      <vt:lpstr>Google Sans</vt:lpstr>
      <vt:lpstr>Nunito</vt:lpstr>
      <vt:lpstr>Nunito </vt:lpstr>
      <vt:lpstr>Wingdings</vt:lpstr>
      <vt:lpstr>Office Theme</vt:lpstr>
      <vt:lpstr>PowerPoint Presentation</vt:lpstr>
      <vt:lpstr>VLSI Technology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on Chip </vt:lpstr>
      <vt:lpstr>PowerPoint Presentation</vt:lpstr>
      <vt:lpstr>PowerPoint Presentation</vt:lpstr>
      <vt:lpstr>PowerPoint Presentation</vt:lpstr>
      <vt:lpstr>PowerPoint Presentation</vt:lpstr>
      <vt:lpstr>SoC Verification </vt:lpstr>
      <vt:lpstr> SoC Advantages: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VLSI Technology Overview</dc:title>
  <dc:creator>Bala Vishnu</dc:creator>
  <cp:lastModifiedBy>cs2022</cp:lastModifiedBy>
  <cp:revision>25</cp:revision>
  <dcterms:created xsi:type="dcterms:W3CDTF">2026-07-07T11:00:45Z</dcterms:created>
  <dcterms:modified xsi:type="dcterms:W3CDTF">2026-07-13T08:17:32Z</dcterms:modified>
</cp:coreProperties>
</file>